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4F8D7-5EDD-C8F8-D78C-AC2323D13BDA}" v="12" dt="2026-08-13T05:22:07.322"/>
    <p1510:client id="{DF14E046-90CB-533D-6E77-41ACCAC31ED2}" v="1" dt="2026-08-13T06:39:32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presenters. One sentence: Action Priority 3 directed us to develop an AI-driven efficiency model and policies — this is that work, and one piece of it is already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are already using AI, and AI features are arriving inside platforms we already license. We are not proposing to introduce AI to WCCCD — it is here. We are proposing to govern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in the framework scales with risk. This one line does not scale — it is a principle, not a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Right-sized: uses structures we already have. Committee membership spans IT, academic affairs, student services, records, IR, HR, procurement, and faculty through shared governance. The committee ratifies pre-drafted documents at its first meeting — that is why the timeline can be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universal approval process would over-police drafting help and under-police systems touching student records. Tiers match review to risk — and the fourth category never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for the live demo. Open the app on a phone if possible — it runs anywhere, needs nothing, collects nothing. Let the room try a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outcomes-first rule working: the demonstration was chosen because gateway English moves completion, not because it was technically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Drawn from the District's highest-impact service areas. The design rule that makes high-impact safe: AI works the communication and compliance layer; District employees make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Paced by decision speed: the day-one documents are already drafted, so the committee's first meeting ratifies rather than starts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 is built in: results go to Cabinet each semester, and Year 2 connects sustained pilots to persistence and completion indicators, consistent with our ATD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three decisions as the memo's executive summary. The 90-day promise is already partly kept: the first pilot candidate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thesis and open the floor. If discussion stalls, return to the demo — it answers most questions better than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Wayne County Community College District logo" descr="Wayne County Community College Distri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1141764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CHANCELLOR'S 2026–2027 ACTION PRIORITIES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WCCCD AI Adoption Framework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640080" y="25420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6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for adopting artificial intelligence deliberately — with a working proof of concept</a:t>
            </a:r>
            <a:endParaRPr lang="en-US" sz="145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246120"/>
            <a:ext cx="32004" cy="56692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2461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use case serves a named outcome — for our students, our operations, and our mission.</a:t>
            </a:r>
            <a:endParaRPr lang="en-US" sz="1300" dirty="0"/>
          </a:p>
        </p:txBody>
      </p:sp>
      <p:sp>
        <p:nvSpPr>
          <p:cNvPr id="10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315968"/>
            <a:ext cx="7863840" cy="18288"/>
          </a:xfrm>
          <a:prstGeom prst="rect">
            <a:avLst/>
          </a:prstGeom>
          <a:solidFill>
            <a:srgbClr val="2E4A7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names and titles]  ·  Chancellor's Cabinet  ·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governance, not technology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04088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higher education professionals have used AI for work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EDUCAUSE, 2026</a:t>
            </a:r>
            <a:endParaRPr lang="en-US" sz="8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4" name="Text 11"/>
          <p:cNvSpPr/>
          <p:nvPr/>
        </p:nvSpPr>
        <p:spPr>
          <a:xfrm>
            <a:off x="3511296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511296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aware of any institutional policy governing that use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11296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EDUCAUSE, 2026</a:t>
            </a:r>
            <a:endParaRPr lang="en-US" sz="85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81328"/>
            <a:ext cx="2606040" cy="18745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81328"/>
            <a:ext cx="26060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6318504" y="16276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318504" y="23408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Chancellor's Action Priorities; Priority 3 directs the District to build the AI model and policies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18504" y="3072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wcccd.edu</a:t>
            </a:r>
            <a:endParaRPr lang="en-US" sz="850" dirty="0"/>
          </a:p>
        </p:txBody>
      </p:sp>
      <p:sp>
        <p:nvSpPr>
          <p:cNvPr id="22" name="b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6118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is governed adoption rather than ungoverned arrival.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FRAMEWORK IS BUILT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foundations, one permanent line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3192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8952" y="20116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Chancellor's priorities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" y="2377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use case must trace to one of the twelve Action Priorities and name the outcome it serves — enrollment, completion, service, or efficiency — before any tool is considered.</a:t>
            </a:r>
            <a:endParaRPr lang="en-US" sz="11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63040"/>
            <a:ext cx="393192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65192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965192" y="20116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validated research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65192" y="2377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Achieving the Dream's roadmap for the AI-enabled community college, the NIST AI Risk Management Framework, and EDUCAUSE's 2026 research — every source dated and verified current.</a:t>
            </a:r>
            <a:endParaRPr lang="en-US" sz="1100" dirty="0"/>
          </a:p>
        </p:txBody>
      </p:sp>
      <p:sp>
        <p:nvSpPr>
          <p:cNvPr id="15" name="b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8138160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bann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73152" cy="84124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7588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never moves:  </a:t>
            </a: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does not make consequential decisions about people. That authority stays with District employees, permanently.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sized for WCCCD — no new positions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Steering Committee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Drawn from existing roles; biweekly for the first 90 days; a coordinator assignment, not a new office.</a:t>
            </a:r>
            <a:endParaRPr lang="en-US" sz="9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Acceptable Use Guideline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guidance drafted and ready to issue, with a 60-day comment period through shared governance.</a:t>
            </a:r>
            <a:endParaRPr lang="en-US" sz="9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05456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05456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by default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889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FERPA, GLBA, and ADA/WCAG accessibility are gate requirements, with a simple three-level data classification.</a:t>
            </a:r>
            <a:endParaRPr lang="en-US" sz="9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505456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505456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buy, and embedded AI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2889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may build tools on approved platforms; vendor AI gets a procurement addendum and an audit of platforms we already license.</a:t>
            </a:r>
            <a:endParaRPr lang="en-US" sz="9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agents, by parameters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governed by what they may do (read, transact, write) — not by a calendar.</a:t>
            </a:r>
            <a:endParaRPr lang="en-US" sz="950" dirty="0"/>
          </a:p>
        </p:txBody>
      </p:sp>
      <p:sp>
        <p:nvSpPr>
          <p:cNvPr id="2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639312"/>
            <a:ext cx="3931920" cy="100584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639312"/>
            <a:ext cx="64008" cy="10058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twelve-month plan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3776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pilot live within 90 days of launch; every pilot measured against a baseline; results to Cabinet.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tiers: review that scales with risk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1920240" cy="141732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2414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26883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assistance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7512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tools, public and non-sensitive information; no approval needed.</a:t>
            </a:r>
            <a:endParaRPr lang="en-US" sz="900" dirty="0"/>
          </a:p>
        </p:txBody>
      </p:sp>
      <p:sp>
        <p:nvSpPr>
          <p:cNvPr id="11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2029968"/>
            <a:ext cx="1920240" cy="1673352"/>
          </a:xfrm>
          <a:prstGeom prst="rect">
            <a:avLst/>
          </a:prstGeom>
          <a:solidFill>
            <a:srgbClr val="E7DFC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52344" y="21579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52344" y="24323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work support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52344" y="288950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content, human review before anything is acted on.</a:t>
            </a:r>
            <a:endParaRPr lang="en-US" sz="900" dirty="0"/>
          </a:p>
        </p:txBody>
      </p:sp>
      <p:sp>
        <p:nvSpPr>
          <p:cNvPr id="15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773936"/>
            <a:ext cx="1920240" cy="1929384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37176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37176" y="2176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or student-facing systems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37176" y="2633472"/>
            <a:ext cx="1600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review, data protection and accessibility assessment, named owner.</a:t>
            </a:r>
            <a:endParaRPr lang="en-US" sz="900" dirty="0"/>
          </a:p>
        </p:txBody>
      </p:sp>
      <p:sp>
        <p:nvSpPr>
          <p:cNvPr id="19" name="tier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517904"/>
            <a:ext cx="1920240" cy="2185416"/>
          </a:xfrm>
          <a:prstGeom prst="rect">
            <a:avLst/>
          </a:prstGeom>
          <a:solidFill>
            <a:srgbClr val="B9862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22008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Reserved to people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22008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22008" y="2377440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Admissions, aid eligibility, grades, discipline, accommodations, employment.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assists. People decide.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 119 Companion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generated a complete practice app strictly from the course syllabus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prep, essay coaching, and mastery tracking mapped to real competencies and grade weights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Practice-only: it cannot write a student's paper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student data — no accounts, no servers, no cost; works offline on any phone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120 in process on the same engine — about a week of content work per gateway course</a:t>
            </a:r>
            <a:endParaRPr lang="en-US" sz="1250" dirty="0"/>
          </a:p>
        </p:txBody>
      </p:sp>
      <p:sp>
        <p:nvSpPr>
          <p:cNvPr id="6" name="callou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4760"/>
            <a:ext cx="5394960" cy="658368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794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five minutes  ·  ecrutch1.github.io/Eng119</a:t>
            </a:r>
            <a:endParaRPr lang="en-US" sz="1300" dirty="0"/>
          </a:p>
        </p:txBody>
      </p:sp>
      <p:sp>
        <p:nvSpPr>
          <p:cNvPr id="8" name="pho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594360"/>
            <a:ext cx="1783080" cy="3840480"/>
          </a:xfrm>
          <a:prstGeom prst="roundRect">
            <a:avLst>
              <a:gd name="adj" fmla="val 11282"/>
            </a:avLst>
          </a:prstGeom>
          <a:solidFill>
            <a:srgbClr val="1E3A5F"/>
          </a:solidFill>
          <a:ln w="12700">
            <a:solidFill>
              <a:srgbClr val="3D5C85"/>
            </a:solidFill>
            <a:prstDash val="solid"/>
          </a:ln>
        </p:spPr>
      </p:sp>
      <p:sp>
        <p:nvSpPr>
          <p:cNvPr id="9" name="phone scre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868680"/>
            <a:ext cx="1508760" cy="329184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0" name="app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868680"/>
            <a:ext cx="1508760" cy="457200"/>
          </a:xfrm>
          <a:prstGeom prst="rect">
            <a:avLst/>
          </a:prstGeom>
          <a:solidFill>
            <a:srgbClr val="122844"/>
          </a:solidFill>
          <a:ln/>
        </p:spPr>
      </p:sp>
      <p:sp>
        <p:nvSpPr>
          <p:cNvPr id="11" name="Text 8"/>
          <p:cNvSpPr/>
          <p:nvPr/>
        </p:nvSpPr>
        <p:spPr>
          <a:xfrm>
            <a:off x="6912864" y="868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119 Companion</a:t>
            </a:r>
            <a:endParaRPr lang="en-US" sz="800" dirty="0"/>
          </a:p>
        </p:txBody>
      </p:sp>
      <p:sp>
        <p:nvSpPr>
          <p:cNvPr id="12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1481328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976872" y="14813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prep</a:t>
            </a:r>
            <a:endParaRPr lang="en-US" sz="800" dirty="0"/>
          </a:p>
        </p:txBody>
      </p:sp>
      <p:sp>
        <p:nvSpPr>
          <p:cNvPr id="14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2048256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76872" y="2048256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coaching</a:t>
            </a:r>
            <a:endParaRPr lang="en-US" sz="800" dirty="0"/>
          </a:p>
        </p:txBody>
      </p:sp>
      <p:sp>
        <p:nvSpPr>
          <p:cNvPr id="16" name="app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2615184"/>
            <a:ext cx="127101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976872" y="261518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tracking</a:t>
            </a:r>
            <a:endParaRPr lang="en-US" sz="800" dirty="0"/>
          </a:p>
        </p:txBody>
      </p:sp>
      <p:sp>
        <p:nvSpPr>
          <p:cNvPr id="18" name="app butt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3200400"/>
            <a:ext cx="1271016" cy="347472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6976872" y="320040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drill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only · no login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FIRST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proof of concept serves the priorities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89888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89888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4475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4447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efficiency model and policies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26280" y="144475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this priority's deliverable; the companion is its first working product.</a:t>
            </a:r>
            <a:endParaRPr lang="en-US" sz="1000" dirty="0"/>
          </a:p>
        </p:txBody>
      </p:sp>
      <p:sp>
        <p:nvSpPr>
          <p:cNvPr id="1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12264"/>
            <a:ext cx="8138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12264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671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74520" y="2167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learning and virtual support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26280" y="216712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Around-the-clock guided practice on any device, online or offline.</a:t>
            </a:r>
            <a:endParaRPr lang="en-US" sz="1000" dirty="0"/>
          </a:p>
        </p:txBody>
      </p:sp>
      <p:sp>
        <p:nvSpPr>
          <p:cNvPr id="1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34640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34640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88950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74520" y="288950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High-touch, student-centered support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26280" y="288950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practice absorbs repetition, so class and office-hour time go to teaching.</a:t>
            </a:r>
            <a:endParaRPr lang="en-US" sz="1000" dirty="0"/>
          </a:p>
        </p:txBody>
      </p:sp>
      <p:sp>
        <p:nvSpPr>
          <p:cNvPr id="22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57016"/>
            <a:ext cx="81381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57016"/>
            <a:ext cx="54864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61188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9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74520" y="361188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Completion Agenda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26280" y="361188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gateway English — among the strongest predictors of persistence and completion.</a:t>
            </a:r>
            <a:endParaRPr lang="en-US" sz="1000" dirty="0"/>
          </a:p>
        </p:txBody>
      </p:sp>
      <p:sp>
        <p:nvSpPr>
          <p:cNvPr id="27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79392"/>
            <a:ext cx="8138160" cy="621792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79392"/>
            <a:ext cx="54864" cy="621792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3425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874520" y="433425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guiding principle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26280" y="433425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no login, works offline after first load — built for students with unreliable devices or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next: the Year 1 pilot slate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services navigation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answers from public District content, with staff handoff</a:t>
            </a:r>
            <a:endParaRPr lang="en-US" sz="9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4" name="Text 11"/>
          <p:cNvSpPr/>
          <p:nvPr/>
        </p:nvSpPr>
        <p:spPr>
          <a:xfrm>
            <a:off x="2304288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304288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aid communications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04288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drafts and file-completeness flags; never eligibility decisions</a:t>
            </a:r>
            <a:endParaRPr lang="en-US" sz="9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3959352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59352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FERPA compliance assistant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59352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Staff-facing policy and records answers, citing sources</a:t>
            </a:r>
            <a:endParaRPr lang="en-US" sz="9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4" name="Text 21"/>
          <p:cNvSpPr/>
          <p:nvPr/>
        </p:nvSpPr>
        <p:spPr>
          <a:xfrm>
            <a:off x="5614416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14416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operations support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14416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and phishing triage for IT security staff</a:t>
            </a:r>
            <a:endParaRPr lang="en-US" sz="900" dirty="0"/>
          </a:p>
        </p:txBody>
      </p:sp>
      <p:sp>
        <p:nvSpPr>
          <p:cNvPr id="2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1517904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1517904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9" name="Text 26"/>
          <p:cNvSpPr/>
          <p:nvPr/>
        </p:nvSpPr>
        <p:spPr>
          <a:xfrm>
            <a:off x="7269480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269480" y="1920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Re-enrollment outreach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69480" y="26060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drafts to stopped-out students; staff review every message</a:t>
            </a:r>
            <a:endParaRPr lang="en-US" sz="900" dirty="0"/>
          </a:p>
        </p:txBody>
      </p:sp>
      <p:sp>
        <p:nvSpPr>
          <p:cNvPr id="32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selects three or four — every pilot has a baseline, human review, and an end date with a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twelve-month roadmap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phase group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4041648" cy="42062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5544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90 DAYS</a:t>
            </a:r>
            <a:endParaRPr lang="en-US" sz="950" dirty="0"/>
          </a:p>
        </p:txBody>
      </p:sp>
      <p:sp>
        <p:nvSpPr>
          <p:cNvPr id="9" name="timelin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8138160" cy="32004"/>
          </a:xfrm>
          <a:prstGeom prst="rect">
            <a:avLst/>
          </a:prstGeom>
          <a:solidFill>
            <a:srgbClr val="D3D8DF"/>
          </a:solidFill>
          <a:ln/>
        </p:spPr>
      </p:sp>
      <p:sp>
        <p:nvSpPr>
          <p:cNvPr id="1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chartered, interim guideline issued, tools list published</a:t>
            </a:r>
            <a:endParaRPr lang="en-US" sz="900" dirty="0"/>
          </a:p>
        </p:txBody>
      </p:sp>
      <p:sp>
        <p:nvSpPr>
          <p:cNvPr id="14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74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5" name="Text 12"/>
          <p:cNvSpPr/>
          <p:nvPr/>
        </p:nvSpPr>
        <p:spPr>
          <a:xfrm>
            <a:off x="18745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Mobilize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8745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audit of current-state usage; training</a:t>
            </a: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begins, intake opens, pilots selected with baselines</a:t>
            </a:r>
            <a:endParaRPr lang="en-US" sz="900" dirty="0"/>
          </a:p>
        </p:txBody>
      </p:sp>
      <p:sp>
        <p:nvSpPr>
          <p:cNvPr id="18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9040" y="2368296"/>
            <a:ext cx="237744" cy="237744"/>
          </a:xfrm>
          <a:prstGeom prst="ellipse">
            <a:avLst/>
          </a:prstGeom>
          <a:solidFill>
            <a:srgbClr val="B9862C"/>
          </a:solidFill>
          <a:ln/>
        </p:spPr>
      </p:sp>
      <p:sp>
        <p:nvSpPr>
          <p:cNvPr id="19" name="Text 16"/>
          <p:cNvSpPr/>
          <p:nvPr/>
        </p:nvSpPr>
        <p:spPr>
          <a:xfrm>
            <a:off x="32461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461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pilot live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461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report to Cabinet</a:t>
            </a:r>
            <a:endParaRPr lang="en-US" sz="900" dirty="0"/>
          </a:p>
        </p:txBody>
      </p:sp>
      <p:sp>
        <p:nvSpPr>
          <p:cNvPr id="2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46177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177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6177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pilot slate; syllabus guidance for fall</a:t>
            </a:r>
            <a:endParaRPr lang="en-US" sz="900" dirty="0"/>
          </a:p>
        </p:txBody>
      </p:sp>
      <p:sp>
        <p:nvSpPr>
          <p:cNvPr id="2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893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9893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revise, or stop — against baselines</a:t>
            </a:r>
            <a:endParaRPr lang="en-US" sz="900" dirty="0"/>
          </a:p>
        </p:txBody>
      </p:sp>
      <p:sp>
        <p:nvSpPr>
          <p:cNvPr id="3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2368296"/>
            <a:ext cx="237744" cy="23774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7360920" y="274320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60920" y="29992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360920" y="3328416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policy to the Board; Year 2 plan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know it is working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awareness above 80% (national baseline: 54%); zero reportable AI data incidents</a:t>
            </a:r>
            <a:endParaRPr lang="en-US" sz="10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3" name="Text 10"/>
          <p:cNvSpPr/>
          <p:nvPr/>
        </p:nvSpPr>
        <p:spPr>
          <a:xfrm>
            <a:off x="2770632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Literacy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70632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 across all four role-based tracks</a:t>
            </a:r>
            <a:endParaRPr lang="en-US" sz="100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17" name="Text 14"/>
          <p:cNvSpPr/>
          <p:nvPr/>
        </p:nvSpPr>
        <p:spPr>
          <a:xfrm>
            <a:off x="4855464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55464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pilot measured against its baseline: response times, after-hours coverage, staff hours redirected to students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63040"/>
            <a:ext cx="1920240" cy="228600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63040"/>
            <a:ext cx="1920240" cy="5486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1" name="Text 18"/>
          <p:cNvSpPr/>
          <p:nvPr/>
        </p:nvSpPr>
        <p:spPr>
          <a:xfrm>
            <a:off x="6940296" y="1664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40296" y="210312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outcomes disaggregated by student group for every student-facing pilot</a:t>
            </a:r>
            <a:endParaRPr lang="en-US" sz="1000" dirty="0"/>
          </a:p>
        </p:txBody>
      </p:sp>
      <p:sp>
        <p:nvSpPr>
          <p:cNvPr id="23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pilot ends with a documented decision — scale, revise, or stop.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98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put the plan in motion</a:t>
            </a:r>
            <a:endParaRPr lang="en-US" sz="2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32004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the governance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executive sponsor and charter the AI Steering Committee; first meeting within two weeks.</a:t>
            </a:r>
            <a:endParaRPr lang="en-US" sz="10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9584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352958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9584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the interim guideline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9584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and ready, with a 60-day comment period through shared governance.</a:t>
            </a:r>
            <a:endParaRPr lang="en-US" sz="10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336" y="1463040"/>
            <a:ext cx="2606040" cy="2011680"/>
          </a:xfrm>
          <a:prstGeom prst="rect">
            <a:avLst/>
          </a:prstGeom>
          <a:solidFill>
            <a:srgbClr val="F4EFE5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6792" y="166420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33679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36792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90-day expectation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6792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pilot live within 90 days; progress report at that mark; results at end of semester.</a:t>
            </a:r>
            <a:endParaRPr lang="en-US" sz="1000" dirty="0"/>
          </a:p>
        </p:txBody>
      </p:sp>
      <p:sp>
        <p:nvSpPr>
          <p:cNvPr id="22" name="cos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86868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3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64008" cy="86868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positions.  </a:t>
            </a: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coordinator assignment within existing staff, committee time, and licensing within current budgets — consolidated Year 1 cost estimate at day 60.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Wayne County Community College District logo" descr="Wayne County Community College Distri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1141764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is already running, at small scale, inside its own rules.</a:t>
            </a:r>
            <a:endParaRPr lang="en-US" sz="3400" dirty="0"/>
          </a:p>
        </p:txBody>
      </p:sp>
      <p:sp>
        <p:nvSpPr>
          <p:cNvPr id="6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246120"/>
            <a:ext cx="32004" cy="548640"/>
          </a:xfrm>
          <a:prstGeom prst="rect">
            <a:avLst/>
          </a:prstGeom>
          <a:solidFill>
            <a:srgbClr val="B986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use case serves a named outcome — for our students, our operations, and our mission.</a:t>
            </a:r>
            <a:endParaRPr lang="en-US" sz="1300" dirty="0"/>
          </a:p>
        </p:txBody>
      </p:sp>
      <p:sp>
        <p:nvSpPr>
          <p:cNvPr id="8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315968"/>
            <a:ext cx="7863840" cy="18288"/>
          </a:xfrm>
          <a:prstGeom prst="rect">
            <a:avLst/>
          </a:prstGeom>
          <a:solidFill>
            <a:srgbClr val="2E4A7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 ·  discussion  ·  the demo stays open  ·  [package URL]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2026-08-13T04:42:50Z</dcterms:created>
  <dcterms:modified xsi:type="dcterms:W3CDTF">2026-08-13T06:39:54Z</dcterms:modified>
</cp:coreProperties>
</file>